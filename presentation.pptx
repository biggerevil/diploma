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335" r:id="rId4"/>
    <p:sldId id="337" r:id="rId5"/>
    <p:sldId id="342" r:id="rId6"/>
    <p:sldId id="347" r:id="rId7"/>
    <p:sldId id="348" r:id="rId8"/>
    <p:sldId id="343" r:id="rId9"/>
    <p:sldId id="344" r:id="rId10"/>
    <p:sldId id="345" r:id="rId11"/>
    <p:sldId id="346" r:id="rId12"/>
    <p:sldId id="341" r:id="rId13"/>
    <p:sldId id="273" r:id="rId14"/>
    <p:sldId id="333" r:id="rId15"/>
  </p:sldIdLst>
  <p:sldSz cx="12192000" cy="6858000"/>
  <p:notesSz cx="6875463" cy="100028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0960"/>
  </p:normalViewPr>
  <p:slideViewPr>
    <p:cSldViewPr snapToGrid="0" snapToObjects="1">
      <p:cViewPr varScale="1">
        <p:scale>
          <a:sx n="69" d="100"/>
          <a:sy n="69" d="100"/>
        </p:scale>
        <p:origin x="1205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367" cy="501879"/>
          </a:xfrm>
          <a:prstGeom prst="rect">
            <a:avLst/>
          </a:prstGeom>
        </p:spPr>
        <p:txBody>
          <a:bodyPr vert="horz" lIns="96442" tIns="48221" rIns="96442" bIns="48221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94505" y="0"/>
            <a:ext cx="2979367" cy="501879"/>
          </a:xfrm>
          <a:prstGeom prst="rect">
            <a:avLst/>
          </a:prstGeom>
        </p:spPr>
        <p:txBody>
          <a:bodyPr vert="horz" lIns="96442" tIns="48221" rIns="96442" bIns="48221" rtlCol="0"/>
          <a:lstStyle>
            <a:lvl1pPr algn="r">
              <a:defRPr sz="1300"/>
            </a:lvl1pPr>
          </a:lstStyle>
          <a:p>
            <a:fld id="{C46F261B-26DF-1C49-B166-EC990B54306E}" type="datetimeFigureOut">
              <a:rPr lang="ru-RU" smtClean="0"/>
              <a:t>23.06.2022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0950"/>
            <a:ext cx="5999163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42" tIns="48221" rIns="96442" bIns="48221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7547" y="4813866"/>
            <a:ext cx="5500370" cy="3938617"/>
          </a:xfrm>
          <a:prstGeom prst="rect">
            <a:avLst/>
          </a:prstGeom>
        </p:spPr>
        <p:txBody>
          <a:bodyPr vert="horz" lIns="96442" tIns="48221" rIns="96442" bIns="48221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79367" cy="501878"/>
          </a:xfrm>
          <a:prstGeom prst="rect">
            <a:avLst/>
          </a:prstGeom>
        </p:spPr>
        <p:txBody>
          <a:bodyPr vert="horz" lIns="96442" tIns="48221" rIns="96442" bIns="48221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94505" y="9500961"/>
            <a:ext cx="2979367" cy="501878"/>
          </a:xfrm>
          <a:prstGeom prst="rect">
            <a:avLst/>
          </a:prstGeom>
        </p:spPr>
        <p:txBody>
          <a:bodyPr vert="horz" lIns="96442" tIns="48221" rIns="96442" bIns="48221" rtlCol="0" anchor="b"/>
          <a:lstStyle>
            <a:lvl1pPr algn="r">
              <a:defRPr sz="1300"/>
            </a:lvl1pPr>
          </a:lstStyle>
          <a:p>
            <a:fld id="{3EF24591-46F7-C546-AE9F-0B2905F62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144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Здравствуйте, уважаемые члены экзаменационной комиссии! </a:t>
            </a:r>
            <a:br>
              <a:rPr lang="ru-RU" dirty="0"/>
            </a:br>
            <a:r>
              <a:rPr lang="ru-RU"/>
              <a:t>Я, Челышев Степан Романович, студент 4 курса, группы БСБО-09-18 представляю вашему вниманию дипломную работу по теме: «Классификация сетевого трафика с использованием различных архитектур нейронных сетей».</a:t>
            </a:r>
            <a:endParaRPr lang="ru-RU" sz="1200" b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70FB7-53E1-2841-B9B0-E15B55A5159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220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ЧИТАТЬ СЛАЙД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C27DC-7686-5744-96F8-D63C3A9A159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155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ДОПОЛНЯТЬ СВОИМИ СЛОВАМИ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4591-46F7-C546-AE9F-0B2905F626D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452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Эта реализация использует стратегию один-к-одному для </a:t>
            </a:r>
            <a:r>
              <a:rPr lang="ru-RU" dirty="0" err="1"/>
              <a:t>мультиклассовой</a:t>
            </a:r>
            <a:r>
              <a:rPr lang="ru-RU" dirty="0"/>
              <a:t> классификации, поскольку метод опорных векторов поддерживает только бинарную классификацию.</a:t>
            </a:r>
            <a:r>
              <a:rPr lang="en-US" dirty="0"/>
              <a:t> </a:t>
            </a:r>
            <a:r>
              <a:rPr lang="ru-RU" dirty="0"/>
              <a:t>Подход один-к-одному для решения задачи </a:t>
            </a:r>
            <a:r>
              <a:rPr lang="ru-RU" dirty="0" err="1"/>
              <a:t>мультиклассовой</a:t>
            </a:r>
            <a:r>
              <a:rPr lang="ru-RU" dirty="0"/>
              <a:t> классификации разбивает входящие данные на пары классов, для которых уже применяется бинарная классификация.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Количество классов определяется при помощи строчки кода«</a:t>
            </a:r>
            <a:r>
              <a:rPr lang="en-US" dirty="0"/>
              <a:t>label = </a:t>
            </a:r>
            <a:r>
              <a:rPr lang="en-US" dirty="0" err="1"/>
              <a:t>pd.get_dummies</a:t>
            </a:r>
            <a:r>
              <a:rPr lang="en-US" dirty="0"/>
              <a:t>(</a:t>
            </a:r>
            <a:r>
              <a:rPr lang="en-US" dirty="0" err="1"/>
              <a:t>f_dataset</a:t>
            </a:r>
            <a:r>
              <a:rPr lang="en-US" dirty="0"/>
              <a:t>['</a:t>
            </a:r>
            <a:r>
              <a:rPr lang="en-US" dirty="0" err="1"/>
              <a:t>ProtocolName</a:t>
            </a:r>
            <a:r>
              <a:rPr lang="en-US" dirty="0"/>
              <a:t>’])</a:t>
            </a:r>
            <a:r>
              <a:rPr lang="ru-RU" dirty="0"/>
              <a:t>».</a:t>
            </a:r>
          </a:p>
          <a:p>
            <a:r>
              <a:rPr lang="ru-RU" dirty="0"/>
              <a:t>Функция </a:t>
            </a:r>
            <a:r>
              <a:rPr lang="en-US" dirty="0" err="1"/>
              <a:t>softmax</a:t>
            </a:r>
            <a:r>
              <a:rPr lang="en-US" dirty="0"/>
              <a:t> </a:t>
            </a:r>
            <a:r>
              <a:rPr lang="ru-RU" dirty="0"/>
              <a:t>выдаёт вероятность принадлежности рассматриваемых данных к одному из классов. Результат выдаётся в виде от 0 до 1.</a:t>
            </a:r>
          </a:p>
          <a:p>
            <a:r>
              <a:rPr lang="ru-RU" dirty="0"/>
              <a:t>Функция </a:t>
            </a:r>
            <a:r>
              <a:rPr lang="en-US" dirty="0"/>
              <a:t>tanh </a:t>
            </a:r>
            <a:r>
              <a:rPr lang="ru-RU" dirty="0"/>
              <a:t>выбрана, так как в решаемой задаче она показывает наилучшие результаты. </a:t>
            </a:r>
            <a:r>
              <a:rPr lang="en-US" dirty="0"/>
              <a:t>(</a:t>
            </a:r>
            <a:r>
              <a:rPr lang="ru-RU" dirty="0"/>
              <a:t>На всякий случай:</a:t>
            </a:r>
            <a:r>
              <a:rPr lang="en-US" dirty="0"/>
              <a:t> tanh </a:t>
            </a:r>
            <a:r>
              <a:rPr lang="ru-RU" dirty="0"/>
              <a:t>быстрее находит по градиентному спуску</a:t>
            </a:r>
            <a:r>
              <a:rPr lang="en-US" dirty="0"/>
              <a:t>)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4591-46F7-C546-AE9F-0B2905F626D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992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– </a:t>
            </a:r>
            <a:r>
              <a:rPr lang="ru-RU" dirty="0"/>
              <a:t>Корректно предсказанные </a:t>
            </a:r>
            <a:r>
              <a:rPr lang="en-US" dirty="0"/>
              <a:t>/ </a:t>
            </a:r>
            <a:r>
              <a:rPr lang="ru-RU" dirty="0"/>
              <a:t>Все значения</a:t>
            </a:r>
            <a:endParaRPr lang="en-US" dirty="0"/>
          </a:p>
          <a:p>
            <a:r>
              <a:rPr lang="en-US" dirty="0"/>
              <a:t>Precision –</a:t>
            </a:r>
            <a:r>
              <a:rPr lang="ru-RU" dirty="0"/>
              <a:t> Корректно предсказанные ПОЛОЖИТЕЛЬНЫЕ значения </a:t>
            </a:r>
            <a:r>
              <a:rPr lang="en-US" dirty="0"/>
              <a:t>/ </a:t>
            </a:r>
            <a:r>
              <a:rPr lang="ru-RU" dirty="0"/>
              <a:t>Все ПОЛОЖИТЕЛЬНЫЕ значения</a:t>
            </a:r>
          </a:p>
          <a:p>
            <a:r>
              <a:rPr lang="en-US" dirty="0"/>
              <a:t>Recall (</a:t>
            </a:r>
            <a:r>
              <a:rPr lang="ru-RU" dirty="0"/>
              <a:t>полнота) – Корректно предсказанные </a:t>
            </a:r>
            <a:r>
              <a:rPr lang="en-US" dirty="0"/>
              <a:t>/ </a:t>
            </a:r>
            <a:r>
              <a:rPr lang="ru-RU" dirty="0"/>
              <a:t>Верно-Положительные и Ложно-Отрицательные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4591-46F7-C546-AE9F-0B2905F626D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495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ЧИТАТЬ СЛАЙД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70FB7-53E1-2841-B9B0-E15B55A5159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92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627DA-9172-6C40-9369-5DCA014AB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67B81F-67DE-9D4D-8763-24300A61F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903256-B0B1-4649-926C-B4D78D08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ADA74-6550-B648-B987-978D0F8EF7BC}" type="datetime1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F1DBE1-FBF1-9E47-97D5-22A6B564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3D306-2BB3-3647-A01E-FD2C363A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414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51A47-78B7-2E45-B581-D476455E5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606861-5B68-DB4B-A242-DE049040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A3CB81-8C5D-F147-AA27-DF55B7D3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5F7CC-610C-8247-942E-F12C6202F1DA}" type="datetime1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B5D1A2-5D40-F94D-92F7-B68348A2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6F68E2-30A5-8347-A982-4D548117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346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ACA77-FEC5-AC4E-AB4F-606A7192B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FED9B9-B2D1-894E-8DDA-132FC627E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F67D8F-8358-BF40-BC7A-E84B1547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B9DF7-BA49-8147-8FB6-5D507EABCC8B}" type="datetime1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EDD9DA-9208-6542-93FC-BB6E08AE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89F16D-813F-F840-BD74-023D2A02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304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572096-750C-F246-87CF-41C0E689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FA0DE1-9752-D342-91B2-E060F61D3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EF5F00-9234-5146-BFEB-2422DD2AE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DB587C-3C5D-8C40-A450-16C9A359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3C0C2-7676-5345-BE9A-98F7043AF4DD}" type="datetime1">
              <a:rPr lang="ru-RU" smtClean="0"/>
              <a:t>23.06.2022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98E494-F4E9-3F44-B025-DA351BF3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7B35AA-A62E-D64E-8F9E-70BD681A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914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9E13E-E9C6-7B43-BC38-03699733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A84B10-DB02-914E-B576-F691A7502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BAB61E-9921-2F4A-87C9-514E8E535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2D6E25-2611-F74A-BA23-C5A920634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8ADE203-E95C-B346-BED0-9EE1E44BD7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5BA2F5E-84F9-BC40-A1F9-E2701CF64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33FC-835D-474A-B3B9-01AB6FB64E32}" type="datetime1">
              <a:rPr lang="ru-RU" smtClean="0"/>
              <a:t>23.06.2022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2FE06D8-A639-9249-993E-19B0FBD65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A633A31-693A-1749-9F38-0CCEB44D1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57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6BB78-6CC7-4B4A-8B55-81993517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63F654D-9847-9740-B16F-F6B6B8B00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0C197-B064-894F-AF17-6F4A75D0E58D}" type="datetime1">
              <a:rPr lang="ru-RU" smtClean="0"/>
              <a:t>23.06.2022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6AA6B58-A801-8340-8835-A349D7741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958F0A-B95A-914E-8D64-14CA3FC7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83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B51AE4F-605A-504A-A8C5-2AB35D7A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9F636-E859-7A45-AF0B-581E65901AF7}" type="datetime1">
              <a:rPr lang="ru-RU" smtClean="0"/>
              <a:t>23.06.2022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B244813-7853-FE45-ADE9-12D3392BB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636386-97D6-414B-AE9D-6539DD27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707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C07C0-3B57-AC49-9EC5-ECB53AF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522E1D-E756-AD41-A63F-65EABB56F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5A3325-C4B1-204E-990D-3840B3A3D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31DDEC-FC2B-664B-BFB8-4E11E2B47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8C2E4-2EB6-584E-9085-C7B374CBDEDF}" type="datetime1">
              <a:rPr lang="ru-RU" smtClean="0"/>
              <a:t>23.06.2022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6C6A86-E8F9-2E4B-9D70-C257ED74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E4222DD-8098-B149-AF6E-01287592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32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D5494-2FEB-2D49-8D82-4D0DE04D7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299804D-96C7-E845-BA59-BE59F73CB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03A9E00-005A-224C-A4AC-2BDE46A70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DED400-0D04-C542-A7CD-FD45FDD1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C024C-983A-454C-A119-C3EBA4404621}" type="datetime1">
              <a:rPr lang="ru-RU" smtClean="0"/>
              <a:t>23.06.2022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4040C8-D1ED-AA49-8E2D-144198CB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F2799F-5DAF-614B-877B-A69F720A6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313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B0192-7F82-DF4F-A34B-D3744E01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3960FE-BFBF-8D4C-9523-9896EC936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239E8C-8C84-9E47-8241-03B71F95A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10AD0-7B77-9143-9F54-1853C437BA0F}" type="datetime1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89F0F2-935E-DF46-9247-F6BEEA29E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1011CD-301A-CF4E-9A2C-E058C3F7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736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1D40E1-1251-5342-9B71-DFEF547C4B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C96E87-3350-6F47-8F66-CBC7C0FE8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DD432E-1563-B64B-A855-492589F42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8FD7-E91E-7547-80C4-37D5C887AEF1}" type="datetime1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3981C5-00D5-494B-97E1-511FC25C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1241BD-DFC0-B943-A224-DB2EA47F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253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A80841-BDF5-FA48-84B8-7ABD2FE82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30FBDC-FE7B-2A4C-8E51-3DD9CCACB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045D31-71FB-9646-A030-E0D540017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14FC4-A4C6-2841-B711-70CB9FCAC51D}" type="datetime1">
              <a:rPr lang="ru-RU" smtClean="0"/>
              <a:t>23.06.2022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F82878-0761-7940-B709-5D8941052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B9B555-4EED-A745-8D3C-F71DAAC86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2B08B-6CDC-554D-8A7F-973FAB7E96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63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NUL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D0440-6E5C-1F4D-9EE4-238D686A4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673" y="1079782"/>
            <a:ext cx="11244649" cy="979200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ru-RU" sz="2000" dirty="0"/>
              <a:t>Федеральное государственное бюджетное образовательное учреждение высшего образования</a:t>
            </a:r>
            <a:br>
              <a:rPr lang="ru-RU" sz="2000" dirty="0"/>
            </a:br>
            <a:r>
              <a:rPr lang="ru-RU" sz="2000" b="1" dirty="0"/>
              <a:t>«МИРЭА – Российский технологический университет»</a:t>
            </a:r>
            <a:br>
              <a:rPr lang="ru-RU" sz="2000" dirty="0"/>
            </a:br>
            <a:r>
              <a:rPr lang="ru-RU" sz="2000" b="1" dirty="0"/>
              <a:t>РТУ МИРЭА</a:t>
            </a:r>
            <a:r>
              <a:rPr lang="ru-RU" sz="2000" dirty="0">
                <a:effectLst/>
              </a:rPr>
              <a:t> </a:t>
            </a:r>
            <a:endParaRPr lang="ru-RU" sz="2000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7B727C-6685-0346-9CAC-0BE98BE1CAC5}"/>
              </a:ext>
            </a:extLst>
          </p:cNvPr>
          <p:cNvSpPr txBox="1">
            <a:spLocks/>
          </p:cNvSpPr>
          <p:nvPr/>
        </p:nvSpPr>
        <p:spPr>
          <a:xfrm>
            <a:off x="626074" y="2897150"/>
            <a:ext cx="11244649" cy="124869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Классификация сетевого трафика с использованием различных архитектур нейронных сетей</a:t>
            </a:r>
            <a:endParaRPr lang="ru-RU" sz="3600" b="1" dirty="0">
              <a:cs typeface="Calibri Light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A7291AC-150A-7542-B2E6-330A03CB07EC}"/>
              </a:ext>
            </a:extLst>
          </p:cNvPr>
          <p:cNvSpPr/>
          <p:nvPr/>
        </p:nvSpPr>
        <p:spPr>
          <a:xfrm>
            <a:off x="7704944" y="5363444"/>
            <a:ext cx="4165779" cy="96795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ru-RU" sz="2000" b="1" dirty="0">
                <a:latin typeface="+mj-lt"/>
                <a:ea typeface="+mj-ea"/>
                <a:cs typeface="+mj-cs"/>
              </a:rPr>
              <a:t>Студент: </a:t>
            </a:r>
            <a:r>
              <a:rPr lang="ru-RU" sz="2000" dirty="0">
                <a:latin typeface="+mj-lt"/>
                <a:ea typeface="+mj-ea"/>
                <a:cs typeface="+mj-cs"/>
              </a:rPr>
              <a:t>Челышев С.Р. БСБО 09-18</a:t>
            </a:r>
          </a:p>
          <a:p>
            <a:pPr algn="r">
              <a:lnSpc>
                <a:spcPct val="150000"/>
              </a:lnSpc>
            </a:pPr>
            <a:r>
              <a:rPr lang="ru-RU" sz="2000" b="1" dirty="0">
                <a:latin typeface="+mj-lt"/>
                <a:ea typeface="+mj-ea"/>
                <a:cs typeface="+mj-cs"/>
              </a:rPr>
              <a:t>Научный руководитель: </a:t>
            </a:r>
            <a:r>
              <a:rPr lang="ru-RU" sz="2000" dirty="0" err="1">
                <a:latin typeface="+mj-lt"/>
                <a:ea typeface="+mj-ea"/>
                <a:cs typeface="+mj-cs"/>
              </a:rPr>
              <a:t>Оцоков</a:t>
            </a:r>
            <a:r>
              <a:rPr lang="ru-RU" sz="2000" dirty="0">
                <a:latin typeface="+mj-lt"/>
                <a:ea typeface="+mj-ea"/>
                <a:cs typeface="+mj-cs"/>
              </a:rPr>
              <a:t> Ш.А.</a:t>
            </a:r>
            <a:endParaRPr lang="ru-RU" sz="2000" dirty="0">
              <a:latin typeface="+mj-lt"/>
              <a:ea typeface="+mj-ea"/>
              <a:cs typeface="Calibri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5A96D0-B397-D145-B1E2-7703461D7A2D}"/>
              </a:ext>
            </a:extLst>
          </p:cNvPr>
          <p:cNvSpPr txBox="1"/>
          <p:nvPr/>
        </p:nvSpPr>
        <p:spPr>
          <a:xfrm>
            <a:off x="1629870" y="4145845"/>
            <a:ext cx="8932253" cy="1015663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ru-RU" sz="2000" dirty="0">
                <a:latin typeface="+mj-lt"/>
              </a:rPr>
              <a:t>Доклад</a:t>
            </a:r>
          </a:p>
          <a:p>
            <a:pPr algn="ctr"/>
            <a:r>
              <a:rPr lang="ru-RU" sz="2000" dirty="0">
                <a:latin typeface="+mj-lt"/>
              </a:rPr>
              <a:t>по выпускной квалификационной работе бакалавра по направлению подготовки</a:t>
            </a:r>
          </a:p>
          <a:p>
            <a:pPr algn="ctr"/>
            <a:r>
              <a:rPr lang="ru-RU" sz="2000" dirty="0">
                <a:latin typeface="+mj-lt"/>
              </a:rPr>
              <a:t> 09.03.02 – Информационные системы и технологии</a:t>
            </a:r>
            <a:endParaRPr lang="ru-RU" sz="2000" dirty="0">
              <a:latin typeface="+mj-lt"/>
              <a:cs typeface="Calibri Light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9E603E1-AF7B-C34F-8E04-F2E5609171B8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1141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534" y="157267"/>
            <a:ext cx="890270" cy="10090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7D91E5-A343-AF43-B681-E372B82EE15A}"/>
              </a:ext>
            </a:extLst>
          </p:cNvPr>
          <p:cNvSpPr txBox="1"/>
          <p:nvPr/>
        </p:nvSpPr>
        <p:spPr>
          <a:xfrm>
            <a:off x="5362997" y="6331401"/>
            <a:ext cx="163134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ru-RU" dirty="0"/>
              <a:t>Москва 2022 г.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4DFC015-BBFB-8145-A0FA-A5C1CA32AC01}"/>
              </a:ext>
            </a:extLst>
          </p:cNvPr>
          <p:cNvCxnSpPr>
            <a:cxnSpLocks/>
          </p:cNvCxnSpPr>
          <p:nvPr/>
        </p:nvCxnSpPr>
        <p:spPr>
          <a:xfrm>
            <a:off x="1050141" y="2125657"/>
            <a:ext cx="10257056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EE273B-F682-9F4D-A73F-D6A0C2F619FB}"/>
              </a:ext>
            </a:extLst>
          </p:cNvPr>
          <p:cNvSpPr txBox="1"/>
          <p:nvPr/>
        </p:nvSpPr>
        <p:spPr>
          <a:xfrm>
            <a:off x="3083184" y="2128233"/>
            <a:ext cx="6025624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ru-RU" dirty="0"/>
              <a:t>Институт кибербезопасности и цифровых технологий</a:t>
            </a:r>
          </a:p>
          <a:p>
            <a:pPr algn="ctr"/>
            <a:r>
              <a:rPr lang="ru-RU" dirty="0"/>
              <a:t>Кафедра КБ-14 «Цифровые технологии обработки данных»</a:t>
            </a:r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4563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DA2649-7E57-A04A-BFDC-D7B81EC7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Цель и задачи, решаемые в работе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FED4F3-3ED2-2648-A199-C4EFDB362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 fontAlgn="base">
              <a:buNone/>
            </a:pPr>
            <a:r>
              <a:rPr lang="ru-RU" b="1" dirty="0"/>
              <a:t>Целью выпускной квалификационной работы </a:t>
            </a:r>
            <a:r>
              <a:rPr lang="ru-RU" dirty="0"/>
              <a:t>является разработка моделей машинного обучения для классификации сетевого трафика.</a:t>
            </a:r>
          </a:p>
          <a:p>
            <a:pPr marL="0" indent="0" algn="just" fontAlgn="base">
              <a:buNone/>
            </a:pPr>
            <a:r>
              <a:rPr lang="ru-RU" dirty="0"/>
              <a:t>Для достижения поставленной цели в работе сформулированы следующие основные задачи:</a:t>
            </a:r>
            <a:endParaRPr lang="en-US" dirty="0"/>
          </a:p>
          <a:p>
            <a:pPr algn="just"/>
            <a:r>
              <a:rPr lang="ru-RU" dirty="0"/>
              <a:t>Сделать обзор существующих решений для анализа трафика;</a:t>
            </a:r>
            <a:endParaRPr lang="ru-RU" dirty="0">
              <a:cs typeface="Calibri"/>
            </a:endParaRPr>
          </a:p>
          <a:p>
            <a:pPr algn="just"/>
            <a:r>
              <a:rPr lang="ru-RU" dirty="0">
                <a:cs typeface="Calibri"/>
              </a:rPr>
              <a:t>Исследовать методы машинного обучения, используемые для классификации трафика;</a:t>
            </a:r>
          </a:p>
          <a:p>
            <a:pPr algn="just"/>
            <a:r>
              <a:rPr lang="ru-RU" dirty="0"/>
              <a:t>Реализация моделей машинного обучения для классификации трафика.</a:t>
            </a:r>
            <a:endParaRPr lang="ru-RU" dirty="0">
              <a:cs typeface="Calibri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EF8005-6F5D-BE40-84E7-51C7BD364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BF987-056C-4344-B7AC-6E235C773473}" type="slidenum">
              <a:rPr lang="ru-RU" sz="1400" smtClean="0"/>
              <a:t>2</a:t>
            </a:fld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69890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4845B-2477-6BFC-32A9-54BCEA5E4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cs typeface="Calibri Light"/>
              </a:rPr>
              <a:t>Актуальность и проблема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974AFA-02FA-C037-D9A9-1F533DF6E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Одна из существующих проблем сетей – это предоставление недостаточного качества обслуживания и сложности с детектированием атак или трафика вредоносного ПО.</a:t>
            </a:r>
          </a:p>
          <a:p>
            <a:r>
              <a:rPr lang="ru-RU" dirty="0">
                <a:cs typeface="Calibri"/>
              </a:rPr>
              <a:t>Главной задачей является реализация моделей машинного обучения для классификации трафика.</a:t>
            </a:r>
          </a:p>
          <a:p>
            <a:r>
              <a:rPr lang="ru-RU" dirty="0">
                <a:effectLst/>
                <a:ea typeface="DengXian" panose="02010600030101010101" pitchFamily="2" charset="-122"/>
                <a:cs typeface="Mangal" panose="02040503050203030202" pitchFamily="18" charset="0"/>
              </a:rPr>
              <a:t>Классификация трафика важна  для правильного распределения сетевых ресурсов,  имеет большое значение для сложных задач управления сетью, таких как обеспечение надлежащего качества обслуживания (Quality </a:t>
            </a:r>
            <a:r>
              <a:rPr lang="ru-RU" dirty="0" err="1">
                <a:effectLst/>
                <a:ea typeface="DengXian" panose="02010600030101010101" pitchFamily="2" charset="-122"/>
                <a:cs typeface="Mangal" panose="02040503050203030202" pitchFamily="18" charset="0"/>
              </a:rPr>
              <a:t>of</a:t>
            </a:r>
            <a:r>
              <a:rPr lang="ru-RU" dirty="0">
                <a:effectLst/>
                <a:ea typeface="DengXian" panose="02010600030101010101" pitchFamily="2" charset="-122"/>
                <a:cs typeface="Mangal" panose="02040503050203030202" pitchFamily="18" charset="0"/>
              </a:rPr>
              <a:t> Service), обнаружение аномалий и детектирования атак, этим обусловлена актуальность работы.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B603CB-AB5C-282D-F5ED-0536B5156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2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1D620-A95A-2B5E-51A5-B22E1518F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41325"/>
            <a:ext cx="10791825" cy="126841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Пример набора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F59DE-9CB5-F053-685E-4E2B61DC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AF67E1DC-71A6-9469-4D2C-E7C17DBA4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345224"/>
              </p:ext>
            </p:extLst>
          </p:nvPr>
        </p:nvGraphicFramePr>
        <p:xfrm>
          <a:off x="981075" y="2028825"/>
          <a:ext cx="9085379" cy="45829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656">
                  <a:extLst>
                    <a:ext uri="{9D8B030D-6E8A-4147-A177-3AD203B41FA5}">
                      <a16:colId xmlns:a16="http://schemas.microsoft.com/office/drawing/2014/main" val="2593530117"/>
                    </a:ext>
                  </a:extLst>
                </a:gridCol>
                <a:gridCol w="1155168">
                  <a:extLst>
                    <a:ext uri="{9D8B030D-6E8A-4147-A177-3AD203B41FA5}">
                      <a16:colId xmlns:a16="http://schemas.microsoft.com/office/drawing/2014/main" val="3560804207"/>
                    </a:ext>
                  </a:extLst>
                </a:gridCol>
                <a:gridCol w="1297911">
                  <a:extLst>
                    <a:ext uri="{9D8B030D-6E8A-4147-A177-3AD203B41FA5}">
                      <a16:colId xmlns:a16="http://schemas.microsoft.com/office/drawing/2014/main" val="556973292"/>
                    </a:ext>
                  </a:extLst>
                </a:gridCol>
                <a:gridCol w="1297911">
                  <a:extLst>
                    <a:ext uri="{9D8B030D-6E8A-4147-A177-3AD203B41FA5}">
                      <a16:colId xmlns:a16="http://schemas.microsoft.com/office/drawing/2014/main" val="4072281960"/>
                    </a:ext>
                  </a:extLst>
                </a:gridCol>
                <a:gridCol w="1297911">
                  <a:extLst>
                    <a:ext uri="{9D8B030D-6E8A-4147-A177-3AD203B41FA5}">
                      <a16:colId xmlns:a16="http://schemas.microsoft.com/office/drawing/2014/main" val="3567333027"/>
                    </a:ext>
                  </a:extLst>
                </a:gridCol>
                <a:gridCol w="1297911">
                  <a:extLst>
                    <a:ext uri="{9D8B030D-6E8A-4147-A177-3AD203B41FA5}">
                      <a16:colId xmlns:a16="http://schemas.microsoft.com/office/drawing/2014/main" val="3659805264"/>
                    </a:ext>
                  </a:extLst>
                </a:gridCol>
                <a:gridCol w="1297911">
                  <a:extLst>
                    <a:ext uri="{9D8B030D-6E8A-4147-A177-3AD203B41FA5}">
                      <a16:colId xmlns:a16="http://schemas.microsoft.com/office/drawing/2014/main" val="3488498301"/>
                    </a:ext>
                  </a:extLst>
                </a:gridCol>
              </a:tblGrid>
              <a:tr h="101680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Flow.ID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Source.IP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Source.Port</a:t>
                      </a:r>
                      <a:endParaRPr lang="ru-RU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Destination.IP</a:t>
                      </a:r>
                      <a:endParaRPr lang="ru-RU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Destination.Port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Protocol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Timestamp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682361"/>
                  </a:ext>
                </a:extLst>
              </a:tr>
              <a:tr h="82845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/>
                        <a:t>172.19.1.46-10.200.7.7-52422-3128-6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/>
                        <a:t>172.19.1.46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52422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10.200.7.7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26/04/202111:11:17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394178"/>
                  </a:ext>
                </a:extLst>
              </a:tr>
              <a:tr h="59116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/>
                        <a:t>172.19.1.46-10.200.7.7-52422-3128-6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10.200.7.7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172.19.1.46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52422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26/04/202111:11:17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123082"/>
                  </a:ext>
                </a:extLst>
              </a:tr>
              <a:tr h="59116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/>
                        <a:t>10.200.7.217-50.31.185.39-38848-80-6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50.31.185.39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10.200.7.217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38848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26/04/202011:11:17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606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319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301E3-66A7-9157-32C1-B67CE16B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ea typeface="Calibri Light"/>
                <a:cs typeface="Calibri Light"/>
              </a:rPr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9C8E51-A2AA-38BE-FB6F-503E9A73E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ea typeface="Calibri" panose="020F0502020204030204"/>
                <a:cs typeface="Calibri" panose="020F0502020204030204"/>
              </a:rPr>
              <a:t>Программные средства:</a:t>
            </a:r>
          </a:p>
          <a:p>
            <a:pPr marL="0" indent="0">
              <a:buNone/>
            </a:pPr>
            <a:r>
              <a:rPr lang="ru-RU" dirty="0">
                <a:ea typeface="Calibri" panose="020F0502020204030204"/>
                <a:cs typeface="Calibri" panose="020F0502020204030204"/>
              </a:rPr>
              <a:t>1. Язык программирования Python</a:t>
            </a:r>
          </a:p>
          <a:p>
            <a:pPr marL="0" indent="0">
              <a:buNone/>
            </a:pPr>
            <a:r>
              <a:rPr lang="ru-RU" dirty="0">
                <a:ea typeface="Calibri" panose="020F0502020204030204"/>
                <a:cs typeface="Calibri" panose="020F0502020204030204"/>
              </a:rPr>
              <a:t>2. Библиотеки - </a:t>
            </a:r>
            <a:r>
              <a:rPr lang="ru-RU" dirty="0" err="1">
                <a:ea typeface="Calibri" panose="020F0502020204030204"/>
                <a:cs typeface="Calibri" panose="020F0502020204030204"/>
              </a:rPr>
              <a:t>Pandas</a:t>
            </a:r>
            <a:r>
              <a:rPr lang="ru-RU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dirty="0" err="1">
                <a:ea typeface="Calibri" panose="020F0502020204030204"/>
                <a:cs typeface="Calibri" panose="020F0502020204030204"/>
              </a:rPr>
              <a:t>Numpy</a:t>
            </a:r>
            <a:r>
              <a:rPr lang="ru-RU" dirty="0">
                <a:ea typeface="Calibri" panose="020F0502020204030204"/>
                <a:cs typeface="Calibri" panose="020F0502020204030204"/>
              </a:rPr>
              <a:t>, </a:t>
            </a:r>
            <a:r>
              <a:rPr lang="ru-RU" dirty="0" err="1">
                <a:ea typeface="Calibri" panose="020F0502020204030204"/>
                <a:cs typeface="Calibri" panose="020F0502020204030204"/>
              </a:rPr>
              <a:t>Sklearn</a:t>
            </a:r>
            <a:endParaRPr lang="ru-RU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ru-RU" dirty="0">
                <a:ea typeface="Calibri" panose="020F0502020204030204"/>
                <a:cs typeface="Calibri" panose="020F0502020204030204"/>
              </a:rPr>
              <a:t>3.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Jupyter</a:t>
            </a:r>
            <a:r>
              <a:rPr lang="en-US" dirty="0">
                <a:ea typeface="Calibri" panose="020F0502020204030204"/>
                <a:cs typeface="Calibri" panose="020F0502020204030204"/>
              </a:rPr>
              <a:t> Notebook </a:t>
            </a:r>
            <a:r>
              <a:rPr lang="ru-RU" dirty="0">
                <a:ea typeface="Calibri" panose="020F0502020204030204"/>
                <a:cs typeface="Calibri" panose="020F0502020204030204"/>
              </a:rPr>
              <a:t>– среда разработки, где можно сразу увидеть результат работы кода или отдельных его компонентов</a:t>
            </a:r>
          </a:p>
          <a:p>
            <a:pPr marL="0" indent="0">
              <a:buNone/>
            </a:pPr>
            <a:r>
              <a:rPr lang="ru-RU" dirty="0">
                <a:ea typeface="Calibri" panose="020F0502020204030204"/>
                <a:cs typeface="Calibri" panose="020F0502020204030204"/>
              </a:rPr>
              <a:t>4. </a:t>
            </a:r>
            <a:r>
              <a:rPr lang="en-US" dirty="0">
                <a:ea typeface="Calibri" panose="020F0502020204030204"/>
                <a:cs typeface="Calibri" panose="020F0502020204030204"/>
              </a:rPr>
              <a:t>Matplotlib, seaborn,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networkx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ru-RU" dirty="0">
                <a:ea typeface="Calibri" panose="020F0502020204030204"/>
                <a:cs typeface="Calibri" panose="020F0502020204030204"/>
              </a:rPr>
              <a:t>– для визуализации</a:t>
            </a:r>
          </a:p>
          <a:p>
            <a:pPr marL="0" indent="0">
              <a:buNone/>
            </a:pPr>
            <a:endParaRPr lang="ru-RU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AB1EA6-295B-7448-94B8-C0F59876F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007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5852D-7D24-4D82-8A7D-607B5E68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Описание программной части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088787-9E03-4D4B-868F-BB7383801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использовании метода опорных векторов используется класс </a:t>
            </a:r>
            <a:r>
              <a:rPr lang="en-US" dirty="0" err="1"/>
              <a:t>sklearn.svm.SVC</a:t>
            </a:r>
            <a:r>
              <a:rPr lang="en-US" dirty="0"/>
              <a:t> </a:t>
            </a:r>
            <a:r>
              <a:rPr lang="ru-RU" dirty="0"/>
              <a:t>из библиотеки </a:t>
            </a:r>
            <a:r>
              <a:rPr lang="en-US" dirty="0" err="1"/>
              <a:t>sklearn</a:t>
            </a:r>
            <a:r>
              <a:rPr lang="en-US" dirty="0"/>
              <a:t>.</a:t>
            </a:r>
          </a:p>
          <a:p>
            <a:r>
              <a:rPr lang="ru-RU" dirty="0"/>
              <a:t>Реализованная нейронная сеть состоит из 5 слоёв, в первых 4 из которых 100 нейронов, а в последнем число нейронов равно количеству классов.</a:t>
            </a:r>
            <a:r>
              <a:rPr lang="en-US" dirty="0"/>
              <a:t> </a:t>
            </a:r>
            <a:r>
              <a:rPr lang="ru-RU" dirty="0"/>
              <a:t>На выходном слое используется функция активации </a:t>
            </a:r>
            <a:r>
              <a:rPr lang="en-US" dirty="0" err="1"/>
              <a:t>softmax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На скрытых слоях используется функция активации</a:t>
            </a:r>
            <a:r>
              <a:rPr lang="en-US" dirty="0"/>
              <a:t> tanh.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89B5F0-204A-4190-8327-190278DCA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896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73EC7-B6DB-45D2-B2EE-1009FBBF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Архитектура нейронной сети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CC1B76AC-183B-4819-B525-92F4B4D65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261" y="1690688"/>
            <a:ext cx="7815940" cy="4351338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00B989-0518-488D-8D8D-7286CC0B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90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CD083-E690-F9F5-080E-206A9E6AA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114" y="-85552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Граф связей сети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91A190-EC68-67F0-B57E-981D25F79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8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740C9E-E2C3-4181-8E54-9410823E1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669" y="1025912"/>
            <a:ext cx="7917365" cy="55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13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236DA4-66D9-20D8-3D44-64D63561D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5478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Наиболее часто встречаемые 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79E621-ABBA-67AD-EA66-C74DF4A0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9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ACD49A-50D4-4D11-A96E-B63662F8F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070" y="1565209"/>
            <a:ext cx="10969509" cy="4542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2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00B016-9511-0E65-DD8A-602EB927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7126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cs typeface="Calibri Light"/>
              </a:rPr>
              <a:t>Наиболее часто встречающиеся </a:t>
            </a:r>
            <a:r>
              <a:rPr lang="en-US" dirty="0">
                <a:cs typeface="Calibri Light"/>
              </a:rPr>
              <a:t>IP</a:t>
            </a:r>
            <a:r>
              <a:rPr lang="ru-RU" dirty="0">
                <a:cs typeface="Calibri Light"/>
              </a:rPr>
              <a:t> 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F279A0-27FA-61CE-3F5A-F011C5B3C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74969D-8A96-4113-A52E-83CC93C3EF4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0731"/>
            <a:ext cx="5931535" cy="3506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6B4808-834F-4E61-AFA2-DEA1626042B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1535" y="1820731"/>
            <a:ext cx="5931535" cy="35064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101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14721D-A187-9761-6387-4A79412C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Результаты обучения нейронной сети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154659-FFDD-0A6D-91A8-968CFD4E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11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C2E2B1-3CDE-49AA-B9C1-97FA3781A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17" y="1349401"/>
            <a:ext cx="5780872" cy="553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53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B7F79-8429-6FDE-3913-942715AB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Точность определения конкретных приложений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997375-39A6-3CA3-A4D8-341F86D5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54FA880E-028C-76E9-BBD4-A7CE3CB882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163824"/>
              </p:ext>
            </p:extLst>
          </p:nvPr>
        </p:nvGraphicFramePr>
        <p:xfrm>
          <a:off x="2230755" y="1979676"/>
          <a:ext cx="7722096" cy="36552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61048">
                  <a:extLst>
                    <a:ext uri="{9D8B030D-6E8A-4147-A177-3AD203B41FA5}">
                      <a16:colId xmlns:a16="http://schemas.microsoft.com/office/drawing/2014/main" val="3779800859"/>
                    </a:ext>
                  </a:extLst>
                </a:gridCol>
                <a:gridCol w="3861048">
                  <a:extLst>
                    <a:ext uri="{9D8B030D-6E8A-4147-A177-3AD203B41FA5}">
                      <a16:colId xmlns:a16="http://schemas.microsoft.com/office/drawing/2014/main" val="127575648"/>
                    </a:ext>
                  </a:extLst>
                </a:gridCol>
              </a:tblGrid>
              <a:tr h="913804">
                <a:tc>
                  <a:txBody>
                    <a:bodyPr/>
                    <a:lstStyle/>
                    <a:p>
                      <a:r>
                        <a:rPr lang="ru-RU" dirty="0"/>
                        <a:t>Приложений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ru-RU" sz="1800" b="0" i="0" u="none" strike="noStrike" noProof="0" dirty="0">
                          <a:latin typeface="Calibri"/>
                        </a:rPr>
                        <a:t>Точность определения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8315660"/>
                  </a:ext>
                </a:extLst>
              </a:tr>
              <a:tr h="913804">
                <a:tc>
                  <a:txBody>
                    <a:bodyPr/>
                    <a:lstStyle/>
                    <a:p>
                      <a:r>
                        <a:rPr lang="en-US" dirty="0"/>
                        <a:t>Amazon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</a:rPr>
                        <a:t>1.0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785244"/>
                  </a:ext>
                </a:extLst>
              </a:tr>
              <a:tr h="913804">
                <a:tc>
                  <a:txBody>
                    <a:bodyPr/>
                    <a:lstStyle/>
                    <a:p>
                      <a:r>
                        <a:rPr lang="en-US" dirty="0"/>
                        <a:t>Wikipedia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</a:rPr>
                        <a:t>0.65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705413"/>
                  </a:ext>
                </a:extLst>
              </a:tr>
              <a:tr h="913804">
                <a:tc>
                  <a:txBody>
                    <a:bodyPr/>
                    <a:lstStyle/>
                    <a:p>
                      <a:r>
                        <a:rPr lang="en-US" dirty="0"/>
                        <a:t>WhatsApp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</a:rPr>
                        <a:t>0.33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19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616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EB338D-5B30-7B4C-82E9-B29FC65F3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 по ВКР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C056EF-4E81-3C47-A5B8-1D8D42748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/>
              <a:t>В рамках ВКР было выполнено: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Сделан обзор существующих решений для анализа трафика.</a:t>
            </a:r>
            <a:endParaRPr lang="ru-RU" dirty="0"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cs typeface="Calibri"/>
              </a:rPr>
              <a:t>Проведено исследование методов машинного обучения, используемых для классификации трафика</a:t>
            </a:r>
            <a:r>
              <a:rPr lang="ru-RU" dirty="0"/>
              <a:t>.</a:t>
            </a:r>
            <a:endParaRPr lang="ru-RU" dirty="0">
              <a:cs typeface="Calibri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Реализованы модели машинного обучения для классификации трафика. </a:t>
            </a:r>
            <a:endParaRPr lang="ru-RU" dirty="0">
              <a:cs typeface="Calibri" panose="020F0502020204030204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534864-4EAD-364D-B224-DA94ED87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E9A34-FFFD-E54D-BBF9-BD8AA3872269}" type="slidenum">
              <a:rPr lang="ru-RU" sz="1400" smtClean="0"/>
              <a:t>13</a:t>
            </a:fld>
            <a:endParaRPr lang="ru-RU" sz="1400"/>
          </a:p>
        </p:txBody>
      </p:sp>
    </p:spTree>
    <p:extLst>
      <p:ext uri="{BB962C8B-B14F-4D97-AF65-F5344CB8AC3E}">
        <p14:creationId xmlns:p14="http://schemas.microsoft.com/office/powerpoint/2010/main" val="342625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499BD5-DEA4-034C-AF6D-26C703D0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B08B-6CDC-554D-8A7F-973FAB7E96DE}" type="slidenum">
              <a:rPr lang="ru-RU" smtClean="0"/>
              <a:t>14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C43B5-2162-5B46-B097-E5B52E16A0D8}"/>
              </a:ext>
            </a:extLst>
          </p:cNvPr>
          <p:cNvSpPr txBox="1"/>
          <p:nvPr/>
        </p:nvSpPr>
        <p:spPr>
          <a:xfrm>
            <a:off x="2465839" y="2921168"/>
            <a:ext cx="72603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40223072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6057</TotalTime>
  <Words>631</Words>
  <Application>Microsoft Office PowerPoint</Application>
  <PresentationFormat>Широкоэкранный</PresentationFormat>
  <Paragraphs>109</Paragraphs>
  <Slides>14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Федеральное государственное бюджетное образовательное учреждение высшего образования «МИРЭА – Российский технологический университет» РТУ МИРЭА </vt:lpstr>
      <vt:lpstr>Цель и задачи, решаемые в работе</vt:lpstr>
      <vt:lpstr>Актуальность и проблема</vt:lpstr>
      <vt:lpstr>Пример набора данных</vt:lpstr>
      <vt:lpstr>Реализация</vt:lpstr>
      <vt:lpstr>Описание программной части</vt:lpstr>
      <vt:lpstr>Архитектура нейронной сети</vt:lpstr>
      <vt:lpstr>Граф связей сети</vt:lpstr>
      <vt:lpstr>Наиболее часто встречаемые приложения</vt:lpstr>
      <vt:lpstr>Наиболее часто встречающиеся IP </vt:lpstr>
      <vt:lpstr>Результаты обучения нейронной сети</vt:lpstr>
      <vt:lpstr>Точность определения конкретных приложений</vt:lpstr>
      <vt:lpstr>Заключение по ВКР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Watto Megawatto</dc:creator>
  <cp:lastModifiedBy>Степан Челышев</cp:lastModifiedBy>
  <cp:revision>1041</cp:revision>
  <cp:lastPrinted>2022-06-22T21:06:01Z</cp:lastPrinted>
  <dcterms:created xsi:type="dcterms:W3CDTF">2020-12-06T10:43:57Z</dcterms:created>
  <dcterms:modified xsi:type="dcterms:W3CDTF">2022-06-23T05:04:43Z</dcterms:modified>
</cp:coreProperties>
</file>